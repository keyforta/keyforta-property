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KEYFORTA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46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9A2E"/>
                </a:solidFill>
                <a:latin typeface="Calibri"/>
              </a:rPr>
              <a:t>Solution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86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Kinshasa-first property discovery and rental-management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Prepared for Leadership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481328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Product &amp; architecture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79675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79675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997963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System landscape — apps, packages, and boundaries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9631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9631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514598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Deployment architecture on Azure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12945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12945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031233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Data, tenancy, and financial integrity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2958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2958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547868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Security, authorization, and AI safety boundaries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46215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46215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064503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Delivery pipeline and quality gates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56285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56285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581138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Key architecture decisions (ADRs)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079485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079485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097773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Open decisions before production 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9612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9612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614408"/>
            <a:ext cx="9784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0B213F"/>
                </a:solidFill>
                <a:latin typeface="Calibri"/>
              </a:rPr>
              <a:t>Glossary &amp; abbreviations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Product &amp; Architecture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F6B"/>
                </a:solidFill>
                <a:latin typeface="Calibri"/>
              </a:rPr>
              <a:t>Product invariants drive the architecture: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73152" cy="13716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Financial integrity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F6B"/>
                </a:solidFill>
                <a:latin typeface="Calibri"/>
              </a:rPr>
              <a:t>Money is never binary floating point; posted transactions are reversed and replaced, never silently edited.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737360"/>
            <a:ext cx="73152" cy="13716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47088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Zero-trust authorization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76272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F6B"/>
                </a:solidFill>
                <a:latin typeface="Calibri"/>
              </a:rPr>
              <a:t>Every organization, user, role, property, unit, and lease ID is re-validated at the API boundary — never trusted from the client.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73552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73552"/>
            <a:ext cx="73152" cy="13716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AI stays narrow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12464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F6B"/>
                </a:solidFill>
                <a:latin typeface="Calibri"/>
              </a:rPr>
              <a:t>AI models never touch the database directly; they call narrow, typed, authorized tools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273552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273552"/>
            <a:ext cx="73152" cy="13716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38328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Humans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712464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F6B"/>
                </a:solidFill>
                <a:latin typeface="Calibri"/>
              </a:rPr>
              <a:t>Acceptance, eviction, legal, pricing, refund, and money-movement decisions remain human, not autonomous.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09744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809744"/>
            <a:ext cx="73152" cy="13716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947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Evidence &amp;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48656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F6B"/>
                </a:solidFill>
                <a:latin typeface="Calibri"/>
              </a:rPr>
              <a:t>Document versions, approvals, and audit correlation IDs are preserved end to 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809744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4809744"/>
            <a:ext cx="73152" cy="13716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91947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Resilient by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248656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F6B"/>
                </a:solidFill>
                <a:latin typeface="Calibri"/>
              </a:rPr>
              <a:t>Core workflows keep working even when AI services are unavailable.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System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8346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264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213F"/>
                </a:solidFill>
                <a:latin typeface="Calibri"/>
              </a:rPr>
              <a:t>Public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B"/>
                </a:solidFill>
                <a:latin typeface="Calibri"/>
              </a:rPr>
              <a:t>Next.js</a:t>
            </a:r>
          </a:p>
          <a:p>
            <a:pPr algn="ctr"/>
            <a:r>
              <a:rPr sz="1050" b="0" i="0">
                <a:solidFill>
                  <a:srgbClr val="555F6B"/>
                </a:solidFill>
                <a:latin typeface="Calibri"/>
              </a:rPr>
              <a:t>Anonymous discovery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371600"/>
            <a:ext cx="28346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4264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213F"/>
                </a:solidFill>
                <a:latin typeface="Calibri"/>
              </a:rPr>
              <a:t>Portal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7190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B"/>
                </a:solidFill>
                <a:latin typeface="Calibri"/>
              </a:rPr>
              <a:t>Vite</a:t>
            </a:r>
          </a:p>
          <a:p>
            <a:pPr algn="ctr"/>
            <a:r>
              <a:rPr sz="1050" b="0" i="0">
                <a:solidFill>
                  <a:srgbClr val="555F6B"/>
                </a:solidFill>
                <a:latin typeface="Calibri"/>
              </a:rPr>
              <a:t>Tenant / landlord / manager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371600"/>
            <a:ext cx="28346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4264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213F"/>
                </a:solidFill>
                <a:latin typeface="Calibri"/>
              </a:rPr>
              <a:t>Admin 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7190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B"/>
                </a:solidFill>
                <a:latin typeface="Calibri"/>
              </a:rPr>
              <a:t>Vite</a:t>
            </a:r>
          </a:p>
          <a:p>
            <a:pPr algn="ctr"/>
            <a:r>
              <a:rPr sz="1050" b="0" i="0">
                <a:solidFill>
                  <a:srgbClr val="555F6B"/>
                </a:solidFill>
                <a:latin typeface="Calibri"/>
              </a:rPr>
              <a:t>Platform administration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12680" y="1371600"/>
            <a:ext cx="2377440" cy="822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5875">
            <a:solidFill>
              <a:srgbClr val="55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12680" y="14264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55F6B"/>
                </a:solidFill>
                <a:latin typeface="Calibri"/>
              </a:rPr>
              <a:t>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17190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F6B"/>
                </a:solidFill>
                <a:latin typeface="Calibri"/>
              </a:rPr>
              <a:t>Synthetic boundary</a:t>
            </a:r>
          </a:p>
          <a:p>
            <a:pPr algn="ctr"/>
            <a:r>
              <a:rPr sz="1000" b="0" i="0">
                <a:solidFill>
                  <a:srgbClr val="555F6B"/>
                </a:solidFill>
                <a:latin typeface="Calibri"/>
              </a:rPr>
              <a:t>No public ingress (gated)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03120.0" y="2194560"/>
            <a:ext cx="0.0" cy="548640"/>
          </a:xfrm>
          <a:prstGeom prst="bentConnector3">
            <a:avLst/>
          </a:prstGeom>
          <a:ln w="1905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257800.0" y="2194560"/>
            <a:ext cx="0.0" cy="548640"/>
          </a:xfrm>
          <a:prstGeom prst="bentConnector3">
            <a:avLst/>
          </a:prstGeom>
          <a:ln w="1905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412480.0" y="2194560"/>
            <a:ext cx="0.0" cy="548640"/>
          </a:xfrm>
          <a:prstGeom prst="bentConnector3">
            <a:avLst/>
          </a:prstGeom>
          <a:ln w="1905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5800" y="2743200"/>
            <a:ext cx="8321040" cy="777240"/>
          </a:xfrm>
          <a:prstGeom prst="roundRect">
            <a:avLst>
              <a:gd name="adj" fmla="val 8000"/>
            </a:avLst>
          </a:prstGeom>
          <a:solidFill>
            <a:srgbClr val="0B213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Fastify API — Modular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10896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99A2E"/>
                </a:solidFill>
                <a:latin typeface="Calibri"/>
              </a:rPr>
              <a:t>Transport · validation · authorization orchestration · domain module boundaries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86200"/>
            <a:ext cx="1249680" cy="4572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124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B213F"/>
                </a:solidFill>
                <a:latin typeface="Calibri"/>
              </a:rPr>
              <a:t>contracts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0072" y="3886200"/>
            <a:ext cx="1249680" cy="4572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00072" y="3886200"/>
            <a:ext cx="124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B213F"/>
                </a:solidFill>
                <a:latin typeface="Calibri"/>
              </a:rPr>
              <a:t>authorization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14344" y="3886200"/>
            <a:ext cx="1249680" cy="4572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14344" y="3886200"/>
            <a:ext cx="124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B213F"/>
                </a:solidFill>
                <a:latin typeface="Calibri"/>
              </a:rPr>
              <a:t>types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28616" y="3886200"/>
            <a:ext cx="1249680" cy="4572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8616" y="3886200"/>
            <a:ext cx="124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B213F"/>
                </a:solidFill>
                <a:latin typeface="Calibri"/>
              </a:rPr>
              <a:t>api-client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42888" y="3886200"/>
            <a:ext cx="1249680" cy="4572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42888" y="3886200"/>
            <a:ext cx="124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B213F"/>
                </a:solidFill>
                <a:latin typeface="Calibri"/>
              </a:rPr>
              <a:t>ui / ui-core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57160" y="3886200"/>
            <a:ext cx="1249680" cy="4572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57160" y="3886200"/>
            <a:ext cx="124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B213F"/>
                </a:solidFill>
                <a:latin typeface="Calibri"/>
              </a:rPr>
              <a:t>brand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846320.0" y="3520440"/>
            <a:ext cx="0.0" cy="36576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3648456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6B"/>
                </a:solidFill>
                <a:latin typeface="Calibri"/>
              </a:rPr>
              <a:t>packages/  (shared, framework-free domain &amp; contracts)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514600" y="3520440"/>
            <a:ext cx="0" cy="1188720"/>
          </a:xfrm>
          <a:prstGeom prst="bentConnector3">
            <a:avLst/>
          </a:prstGeom>
          <a:ln w="1905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85800" y="4709160"/>
            <a:ext cx="3931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7640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213F"/>
                </a:solidFill>
                <a:latin typeface="Calibri"/>
              </a:rPr>
              <a:t>PostgreSQL Flexible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05663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F6B"/>
                </a:solidFill>
                <a:latin typeface="Calibri"/>
              </a:rPr>
              <a:t>Org-scoped RLS · forward-only migrations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49440" y="3520440"/>
            <a:ext cx="0" cy="1188720"/>
          </a:xfrm>
          <a:prstGeom prst="bentConnector3">
            <a:avLst/>
          </a:prstGeom>
          <a:ln w="1905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983480" y="4709160"/>
            <a:ext cx="4023360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5875">
            <a:solidFill>
              <a:srgbClr val="55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83480" y="476402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5F6B"/>
                </a:solidFill>
                <a:latin typeface="Calibri"/>
              </a:rPr>
              <a:t>apps/jobs — Async Worker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50566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F6B"/>
                </a:solidFill>
                <a:latin typeface="Calibri"/>
              </a:rPr>
              <a:t>Boundary defined; no runtime configured yet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F6B"/>
                </a:solidFill>
                <a:latin typeface="Calibri"/>
              </a:rPr>
              <a:t>Browsers call the public API directly (no BFF hop); every app consumes shared contracts instead of duplicating financial or authorization logic.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Deployment Architecture — Azure Lean Single-Environment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64240" cy="4160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905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Resource Group — dev (South Africa North)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70408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Calibri"/>
              </a:rPr>
              <a:t>Container Apps Environment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331720"/>
            <a:ext cx="6675120" cy="548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86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13F"/>
                </a:solidFill>
                <a:latin typeface="Calibri"/>
              </a:rPr>
              <a:t>Public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865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F6B"/>
                </a:solidFill>
                <a:latin typeface="Calibri"/>
              </a:rPr>
              <a:t>public HTTPS ingress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971800"/>
            <a:ext cx="6675120" cy="548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02666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13F"/>
                </a:solidFill>
                <a:latin typeface="Calibri"/>
              </a:rPr>
              <a:t>Portal / Admin 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2666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F6B"/>
                </a:solidFill>
                <a:latin typeface="Calibri"/>
              </a:rPr>
              <a:t>public HTTPS ingress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611880"/>
            <a:ext cx="6675120" cy="548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6667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13F"/>
                </a:solidFill>
                <a:latin typeface="Calibri"/>
              </a:rPr>
              <a:t>Fastify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666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F6B"/>
                </a:solidFill>
                <a:latin typeface="Calibri"/>
              </a:rPr>
              <a:t>public HTTPS ingress (direct browser access)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2024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99339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213F"/>
                </a:solidFill>
                <a:latin typeface="Calibri"/>
              </a:rPr>
              <a:t>PostgreSQL Flexible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0428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F6B"/>
                </a:solidFill>
                <a:latin typeface="Calibri"/>
              </a:rPr>
              <a:t>Burstable SKU · 7-day backups</a:t>
            </a:r>
          </a:p>
          <a:p>
            <a:pPr algn="ctr"/>
            <a:r>
              <a:rPr sz="1000" b="0" i="0">
                <a:solidFill>
                  <a:srgbClr val="555F6B"/>
                </a:solidFill>
                <a:latin typeface="Calibri"/>
              </a:rPr>
              <a:t>Managed-identity auth (Entra)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154680"/>
            <a:ext cx="31089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5468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B213F"/>
                </a:solidFill>
                <a:latin typeface="Calibri"/>
              </a:rPr>
              <a:t>Container Registry (Basic)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3913632"/>
            <a:ext cx="310896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913632"/>
            <a:ext cx="3108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0B213F"/>
                </a:solidFill>
                <a:latin typeface="Calibri"/>
              </a:rPr>
              <a:t>Log Analytics (30-day retention)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645152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13F"/>
                </a:solidFill>
                <a:latin typeface="Calibri"/>
              </a:rPr>
              <a:t>Narrowly-scoped managed identities: deployment · web · API · migration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956048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No long-lived Azure credentials — GitHub OIDC federates per-environment identities.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F6B"/>
                </a:solidFill>
                <a:latin typeface="Calibri"/>
              </a:rPr>
              <a:t>Deferred until justified by demand: test/prod stamps, Service Bus, Blob Storage, Key Vault,</a:t>
            </a:r>
          </a:p>
          <a:p>
            <a:pPr algn="l"/>
            <a:r>
              <a:rPr sz="1100" b="0" i="1">
                <a:solidFill>
                  <a:srgbClr val="555F6B"/>
                </a:solidFill>
                <a:latin typeface="Calibri"/>
              </a:rPr>
              <a:t>Application Insights, general-purpose workers, private endpoints, HA, geo-redundant backups.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Data, Tenancy &amp; Financial Integrity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08176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Every organization-owned table carries a non-null organization_id.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042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9424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The API authorizes every command/query before persistence access —</a:t>
            </a:r>
          </a:p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client IDs are never trusted.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4553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90672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RLS defaults to deny when trusted organization context is absent</a:t>
            </a:r>
          </a:p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(defense in depth).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8678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The runtime role cannot own or bypass RLS on protected tables;</a:t>
            </a:r>
          </a:p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FORCE ROW LEVEL SECURITY closes ownership loopholes.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2803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A separate migration identity owns schema change; application</a:t>
            </a:r>
          </a:p>
          <a:p>
            <a:pPr algn="l"/>
            <a:r>
              <a:rPr sz="1200" b="0" i="0">
                <a:solidFill>
                  <a:srgbClr val="0B213F"/>
                </a:solidFill>
                <a:latin typeface="Calibri"/>
              </a:rPr>
              <a:t>startup never auto-applies migrations.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1463040"/>
            <a:ext cx="4480560" cy="548640"/>
          </a:xfrm>
          <a:prstGeom prst="roundRect">
            <a:avLst>
              <a:gd name="adj" fmla="val 8000"/>
            </a:avLst>
          </a:prstGeom>
          <a:solidFill>
            <a:srgbClr val="0B213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536192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Browser sends request with bearer token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81160" y="2011680"/>
            <a:ext cx="0" cy="32004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0" y="2331720"/>
            <a:ext cx="4480560" cy="5486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2404872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API authenticates + resolves membership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81160" y="2880360"/>
            <a:ext cx="0" cy="32004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040880" y="3200400"/>
            <a:ext cx="4480560" cy="5486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3273552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Authorization decision (org, role, resource scope)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81160" y="3749039"/>
            <a:ext cx="0" cy="320041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40880" y="4069080"/>
            <a:ext cx="4480560" cy="548640"/>
          </a:xfrm>
          <a:prstGeom prst="roundRect">
            <a:avLst>
              <a:gd name="adj" fmla="val 8000"/>
            </a:avLst>
          </a:prstGeom>
          <a:solidFill>
            <a:srgbClr val="C99A2E"/>
          </a:solidFill>
          <a:ln w="15875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4142232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B213F"/>
                </a:solidFill>
                <a:latin typeface="Calibri"/>
              </a:rPr>
              <a:t>Trusted context set inside DB transaction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81160" y="4617720"/>
            <a:ext cx="0" cy="32004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040880" y="4937760"/>
            <a:ext cx="44805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5010912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B213F"/>
                </a:solidFill>
                <a:latin typeface="Calibri"/>
              </a:rPr>
              <a:t>RLS-enforced PostgreSQL access (default-deny)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2A2A"/>
                </a:solidFill>
                <a:latin typeface="Calibri"/>
              </a:rPr>
              <a:t>Money uses integer minor units, never binary floating point.</a:t>
            </a:r>
          </a:p>
          <a:p>
            <a:pPr algn="l"/>
            <a:r>
              <a:rPr sz="1100" b="1" i="0">
                <a:solidFill>
                  <a:srgbClr val="B02A2A"/>
                </a:solidFill>
                <a:latin typeface="Calibri"/>
              </a:rPr>
              <a:t>Posted financial transactions are reversed and replaced — never silently edited.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Security, Authorization &amp; AI 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66160" cy="73152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Application-boundary authorization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No organization, user, role, property, unit, or lease ID from a client is ever trusted without re-validation at the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417320"/>
            <a:ext cx="3566160" cy="73152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00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AI never touches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574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Models call narrow, typed, authorized tools only — never direct SQL or persistence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417320"/>
            <a:ext cx="3566160" cy="73152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Human-only decisions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574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Tenant acceptance, eviction, legal, pricing, refunds, and money movement are never autonomous.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11880"/>
            <a:ext cx="3566160" cy="73152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Evidence &amp;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Document versions, evidence references, human approvals, and audit correlation IDs are preserved end to 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6118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611880"/>
            <a:ext cx="3566160" cy="73152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Fail-safe without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Core workflows (e.g., schedule preview) keep working when AI services are unavailable.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118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611880"/>
            <a:ext cx="3566160" cy="73152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213F"/>
                </a:solidFill>
                <a:latin typeface="Calibri"/>
              </a:rPr>
              <a:t>Least-privilege identities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B"/>
                </a:solidFill>
                <a:latin typeface="Calibri"/>
              </a:rPr>
              <a:t>Separate managed identities for web, API, worker, database, and deployment — no shared credentials.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Delivery Pipeline and Quality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691640" cy="10058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691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Frozen-lockfile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install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40280" y="2103120.0"/>
            <a:ext cx="256032" cy="0.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96312" y="1600200"/>
            <a:ext cx="1691640" cy="10058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96312" y="1600200"/>
            <a:ext cx="1691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Lint, type-check,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test, format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87952" y="2103120.0"/>
            <a:ext cx="256032" cy="0.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43984" y="1600200"/>
            <a:ext cx="1691640" cy="10058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3984" y="1600200"/>
            <a:ext cx="1691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Compile every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Bicep module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35624" y="2103120.0"/>
            <a:ext cx="256032" cy="0.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91656" y="1600200"/>
            <a:ext cx="1691640" cy="10058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600200"/>
            <a:ext cx="1691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Build web &amp; API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container images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83296" y="2103120.0"/>
            <a:ext cx="256032" cy="0.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339328" y="1600200"/>
            <a:ext cx="1691640" cy="100584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1600200"/>
            <a:ext cx="1691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Container config &amp;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vulnerability scans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30968" y="2103120.0"/>
            <a:ext cx="256032" cy="0.0"/>
          </a:xfrm>
          <a:prstGeom prst="bentConnector3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287000" y="1600200"/>
            <a:ext cx="1691640" cy="1005840"/>
          </a:xfrm>
          <a:prstGeom prst="roundRect">
            <a:avLst>
              <a:gd name="adj" fmla="val 8000"/>
            </a:avLst>
          </a:prstGeom>
          <a:solidFill>
            <a:srgbClr val="C99A2E"/>
          </a:solidFill>
          <a:ln w="12700">
            <a:solidFill>
              <a:srgbClr val="0B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1600200"/>
            <a:ext cx="1691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0B213F"/>
                </a:solidFill>
                <a:latin typeface="Calibri"/>
              </a:rPr>
              <a:t>pnpm verify</a:t>
            </a:r>
          </a:p>
          <a:p>
            <a:pPr algn="ctr"/>
            <a:r>
              <a:rPr sz="1050" b="1" i="0">
                <a:solidFill>
                  <a:srgbClr val="0B213F"/>
                </a:solidFill>
                <a:latin typeface="Calibri"/>
              </a:rPr>
              <a:t>(gate)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13F"/>
                </a:solidFill>
                <a:latin typeface="Calibri"/>
              </a:rPr>
              <a:t>GitHub Actions with OIDC — no long-lived Azure credentials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38328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Identity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213F"/>
                          </a:solidFill>
                        </a:rPr>
                        <a:t>Per-environment federated deployment identity via workload identity federation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Environments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213F"/>
                          </a:solidFill>
                        </a:rPr>
                        <a:t>dev / test / production GitHub Environments; manual approval required for production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Promotion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213F"/>
                          </a:solidFill>
                        </a:rPr>
                        <a:t>Deployments allowed only from the protected main branch, tied to an immutable commit SHA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Evidence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213F"/>
                          </a:solidFill>
                        </a:rPr>
                        <a:t>CI worktree must stay clean after build; evidence-manifest gate fails otherwise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Key Architecture Decision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108960"/>
                <a:gridCol w="65836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ADR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ADR-0001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Modular monolith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One API, internally enforced domain modules; service extraction deferred until measurable value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ADR-0002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TypeScript monorepo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pnpm + Turborepo; framework-free domain code kept portable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ADR-0004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PostgreSQL + app authorization + RLS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Application authorizes first; RLS is defense in depth, not the authorizer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ADR-0006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Lean single-environment pilot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One dev environment; test/prod and extra services deferred until justified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ADR-0008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Direct browser → API access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Removed the web BFF hop; API independently authorizes every request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ADR-0005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GitHub OIDC deployment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No long-lived Azure credentials; federated identity per environment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Open Decisions Before Production Launch (ADR-0009)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/>
                <a:gridCol w="4206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Decision needed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Required before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Identity provider tenant &amp; onboarding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Protected production access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PostgreSQL hosting region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Production personal data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Payment provider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Automated payments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Object storage &amp; malware scanning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Document uploads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Messaging provider (email/SMS/WhatsApp)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Outbound communications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DRC retention / lease / notice policy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Commercial leasing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Backup &amp; recovery targets (RPO/RTO)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Production launch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13F"/>
                          </a:solidFill>
                        </a:rPr>
                        <a:t>Observability &amp; on-call ownership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02A2A"/>
                          </a:solidFill>
                        </a:rPr>
                        <a:t>Production launch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F6B"/>
                </a:solidFill>
                <a:latin typeface="Calibri"/>
              </a:rPr>
              <a:t>Owners: Technology, Finance, Product, Privacy. Each decision requires context, options,</a:t>
            </a:r>
          </a:p>
          <a:p>
            <a:pPr algn="l"/>
            <a:r>
              <a:rPr sz="1100" b="0" i="1">
                <a:solidFill>
                  <a:srgbClr val="555F6B"/>
                </a:solidFill>
                <a:latin typeface="Calibri"/>
              </a:rPr>
              <a:t>selected choice, security/privacy and cost impact, and documented approval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Glossary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Modular monolith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 single deployed application internally organized into strict domain modules that communicate through commands, queries, and events instead of shared database access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Row-Level Security (RLS)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 PostgreSQL feature that restricts which rows a query can see or modify based on the caller's context; used here as defense in depth behind application authorization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Managed identity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An Azure identity automatically managed by the platform so an application or pipeline can authenticate without a stored password or secret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Access token (bearer scheme)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 credential included with an API request that grants access to whoever presents it, without further proof of identity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Zero-trust authorization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 design principle where every request is independently authenticated and authorized, regardless of network location or prior trust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Minor units (money)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The smallest whole unit of a currency (e.g., cents) used to avoid floating-point rounding errors in financial calculations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213F"/>
                          </a:solidFill>
                        </a:rPr>
                        <a:t>Immutable posting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 financial transaction record that is never edited after being recorded; corrections are made by reversing and replacing 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Glossary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39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Forward-only migration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database schema change that is only ever applied moving forward in time; past migrations are never rewritten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BFF (Backend-for-Frontend)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server-side layer placed between a browser and backend API to tailor and forward requests on the browser's behalf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OIDC (OpenID Connect)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An identity protocol used here so GitHub Actions can authenticate to Azure without storing long-lived credentials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Workload identity federation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mechanism that lets an external system (like GitHub) exchange its own identity for a cloud provider's identity, without a shared secret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Blue/green deployment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release technique that runs two versions of an application side by side and shifts traffic from the old to the new version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Canary deployment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release technique that gradually shifts a small percentage of traffic to a new version before a full rollout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RPO (Recovery Point Objective)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The maximum acceptable amount of data loss, measured in time, after an incident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RTO (Recovery Time Objective)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The maximum acceptable time to restore service after an incident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SLO (Service Level Objective)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measurable reliability target (e.g., latency, uptime) that a team commits to internally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213F"/>
                          </a:solidFill>
                        </a:rPr>
                        <a:t>ADR (Architecture Decision Record)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B213F"/>
                          </a:solidFill>
                        </a:rPr>
                        <a:t>A short document capturing one architecture decision, its context, and its consequences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86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B213F"/>
                </a:solidFill>
                <a:latin typeface="Calibri"/>
              </a:rPr>
              <a:t>Abbreviations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005840" cy="411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39496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Abbrev.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Application Programming Interface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BFF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Backend-for-Frontend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CDN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Content Delivery Network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CI/CD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Continuous Integration / Continuous Deployment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CORS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Cross-Origin Resource Sharing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DRC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Democratic Republic of the Congo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High Availability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HTTPS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Hypertext Transfer Protocol Secure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MCP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Model Context Protocol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OIDC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OpenID Connect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417320"/>
          <a:ext cx="53949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Abbrev.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0B21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PKCE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Proof Key for Code Exchange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RLS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Row-Level Security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RPO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Recovery Point Objective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RTO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Recovery Time Objective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SKU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Stock Keeping Unit (cloud pricing/capacity tier)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SLO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Service Level Objective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SQL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Structured Query Language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VNet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Virtual Network</a:t>
                      </a:r>
                    </a:p>
                  </a:txBody>
                  <a:tcPr anchor="ctr" marL="73152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E7C86"/>
                          </a:solidFill>
                        </a:rPr>
                        <a:t>WAF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213F"/>
                          </a:solidFill>
                        </a:rPr>
                        <a:t>Web Application Firewall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F6B"/>
                </a:solidFill>
                <a:latin typeface="Calibri"/>
              </a:rPr>
              <a:t>KEYFORTA — Architecture Overview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F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9A2E"/>
                </a:solidFill>
                <a:latin typeface="Calibr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KEYFORTA —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