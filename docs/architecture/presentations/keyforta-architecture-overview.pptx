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KEYFORTA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9A2E"/>
                </a:solidFill>
                <a:latin typeface="Calibri"/>
              </a:rPr>
              <a:t>Solution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Kinshasa-first property discovery and rental-management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Prepared for 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13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005840" cy="4114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81912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B213F"/>
                </a:solidFill>
                <a:latin typeface="Calibri"/>
              </a:rPr>
              <a:t>Product &amp; architecture principles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214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4884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B213F"/>
                </a:solidFill>
                <a:latin typeface="Calibri"/>
              </a:rPr>
              <a:t>System landscape — apps, packages, and boundaries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8833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883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5768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B213F"/>
                </a:solidFill>
                <a:latin typeface="Calibri"/>
              </a:rPr>
              <a:t>Deployment architecture on Azure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552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5526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82696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B213F"/>
                </a:solidFill>
                <a:latin typeface="Calibri"/>
              </a:rPr>
              <a:t>Data, tenancy, and financial integrity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2219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49624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B213F"/>
                </a:solidFill>
                <a:latin typeface="Calibri"/>
              </a:rPr>
              <a:t>Security, authorization, and AI safety boundaries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16552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B213F"/>
                </a:solidFill>
                <a:latin typeface="Calibri"/>
              </a:rPr>
              <a:t>Delivery pipeline and quality gates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560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560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8348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B213F"/>
                </a:solidFill>
                <a:latin typeface="Calibri"/>
              </a:rPr>
              <a:t>Key architecture decisions (ADRs)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2297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229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50408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0B213F"/>
                </a:solidFill>
                <a:latin typeface="Calibri"/>
              </a:rPr>
              <a:t>Open decisions before production 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KEYFORTA — Architecture Overview ·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13F"/>
                </a:solidFill>
                <a:latin typeface="Calibri"/>
              </a:rPr>
              <a:t>Product Invariants Drive the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005840" cy="4114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14173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27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213F"/>
                </a:solidFill>
                <a:latin typeface="Calibri"/>
              </a:rPr>
              <a:t>Financial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F6B"/>
                </a:solidFill>
                <a:latin typeface="Calibri"/>
              </a:rPr>
              <a:t>Money is never binary floating point; posted transactions are reversed and replaced, never silently edited.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73152" cy="14173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27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213F"/>
                </a:solidFill>
                <a:latin typeface="Calibri"/>
              </a:rPr>
              <a:t>Zero-trust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F6B"/>
                </a:solidFill>
                <a:latin typeface="Calibri"/>
              </a:rPr>
              <a:t>Every organization, user, role, property, unit, and lease ID is re-validated at the API boundary — never trusted from the client.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73152" cy="14173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272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213F"/>
                </a:solidFill>
                <a:latin typeface="Calibri"/>
              </a:rPr>
              <a:t>AI stays narrow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F6B"/>
                </a:solidFill>
                <a:latin typeface="Calibri"/>
              </a:rPr>
              <a:t>AI models never touch the database directly; they call narrow, typed, authorized tools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01752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73152" cy="14173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272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213F"/>
                </a:solidFill>
                <a:latin typeface="Calibri"/>
              </a:rPr>
              <a:t>Humans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747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F6B"/>
                </a:solidFill>
                <a:latin typeface="Calibri"/>
              </a:rPr>
              <a:t>Acceptance, eviction, legal, pricing, refund, and money-movement decisions remain human, not autonomous.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73152" cy="14173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727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213F"/>
                </a:solidFill>
                <a:latin typeface="Calibri"/>
              </a:rPr>
              <a:t>Evidence &amp;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F6B"/>
                </a:solidFill>
                <a:latin typeface="Calibri"/>
              </a:rPr>
              <a:t>Document versions, approvals, and audit correlation IDs are preserved end to 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61772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617720"/>
            <a:ext cx="73152" cy="14173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727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213F"/>
                </a:solidFill>
                <a:latin typeface="Calibri"/>
              </a:rPr>
              <a:t>Resilient by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74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F6B"/>
                </a:solidFill>
                <a:latin typeface="Calibri"/>
              </a:rPr>
              <a:t>Core workflows keep working even when AI services are unavailable.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KEYFORTA — Architecture Overview ·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SYSTEM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13F"/>
                </a:solidFill>
                <a:latin typeface="Calibri"/>
              </a:rPr>
              <a:t>Apps, Shared Packages &amp;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005840" cy="4114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8346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72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13F"/>
                </a:solidFill>
                <a:latin typeface="Calibri"/>
              </a:rPr>
              <a:t>Public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B"/>
                </a:solidFill>
                <a:latin typeface="Calibri"/>
              </a:rPr>
              <a:t>Next.js</a:t>
            </a:r>
          </a:p>
          <a:p>
            <a:pPr algn="ctr"/>
            <a:r>
              <a:rPr sz="1050" b="0" i="0">
                <a:solidFill>
                  <a:srgbClr val="555F6B"/>
                </a:solidFill>
                <a:latin typeface="Calibri"/>
              </a:rPr>
              <a:t>Anonymous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417320"/>
            <a:ext cx="28346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472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13F"/>
                </a:solidFill>
                <a:latin typeface="Calibri"/>
              </a:rPr>
              <a:t>Portal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647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B"/>
                </a:solidFill>
                <a:latin typeface="Calibri"/>
              </a:rPr>
              <a:t>Vite</a:t>
            </a:r>
          </a:p>
          <a:p>
            <a:pPr algn="ctr"/>
            <a:r>
              <a:rPr sz="1050" b="0" i="0">
                <a:solidFill>
                  <a:srgbClr val="555F6B"/>
                </a:solidFill>
                <a:latin typeface="Calibri"/>
              </a:rPr>
              <a:t>Tenant / landlord /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417320"/>
            <a:ext cx="28346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472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13F"/>
                </a:solidFill>
                <a:latin typeface="Calibri"/>
              </a:rPr>
              <a:t>Admin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76479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B"/>
                </a:solidFill>
                <a:latin typeface="Calibri"/>
              </a:rPr>
              <a:t>Vite</a:t>
            </a:r>
          </a:p>
          <a:p>
            <a:pPr algn="ctr"/>
            <a:r>
              <a:rPr sz="1050" b="0" i="0">
                <a:solidFill>
                  <a:srgbClr val="555F6B"/>
                </a:solidFill>
                <a:latin typeface="Calibri"/>
              </a:rPr>
              <a:t>Platform administration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41732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5875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4721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F6B"/>
                </a:solidFill>
                <a:latin typeface="Calibri"/>
              </a:rPr>
              <a:t>MCP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7647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F6B"/>
                </a:solidFill>
                <a:latin typeface="Calibri"/>
              </a:rPr>
              <a:t>Synthetic boundary</a:t>
            </a:r>
          </a:p>
          <a:p>
            <a:pPr algn="ctr"/>
            <a:r>
              <a:rPr sz="1000" b="0" i="0">
                <a:solidFill>
                  <a:srgbClr val="555F6B"/>
                </a:solidFill>
                <a:latin typeface="Calibri"/>
              </a:rPr>
              <a:t>No public ingress (gated)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03120.0" y="2240280"/>
            <a:ext cx="0.0" cy="548640"/>
          </a:xfrm>
          <a:prstGeom prst="bentConnector3">
            <a:avLst/>
          </a:prstGeom>
          <a:ln w="1905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57800.0" y="2240280"/>
            <a:ext cx="0.0" cy="548640"/>
          </a:xfrm>
          <a:prstGeom prst="bentConnector3">
            <a:avLst/>
          </a:prstGeom>
          <a:ln w="1905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12480.0" y="2240280"/>
            <a:ext cx="0.0" cy="548640"/>
          </a:xfrm>
          <a:prstGeom prst="bentConnector3">
            <a:avLst/>
          </a:prstGeom>
          <a:ln w="1905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2788920"/>
            <a:ext cx="8321040" cy="777240"/>
          </a:xfrm>
          <a:prstGeom prst="roundRect">
            <a:avLst>
              <a:gd name="adj" fmla="val 8000"/>
            </a:avLst>
          </a:prstGeom>
          <a:solidFill>
            <a:srgbClr val="0B213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6207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Fastify API — Modular Monolith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15468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99A2E"/>
                </a:solidFill>
                <a:latin typeface="Calibri"/>
              </a:rPr>
              <a:t>Transport · validation · authorization orchestration · domain module boundaries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77639"/>
            <a:ext cx="1249680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77639"/>
            <a:ext cx="124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B213F"/>
                </a:solidFill>
                <a:latin typeface="Calibri"/>
              </a:rPr>
              <a:t>contracts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0072" y="3977639"/>
            <a:ext cx="1249680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0072" y="3977639"/>
            <a:ext cx="124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B213F"/>
                </a:solidFill>
                <a:latin typeface="Calibri"/>
              </a:rPr>
              <a:t>authorization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14344" y="3977639"/>
            <a:ext cx="1249680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4344" y="3977639"/>
            <a:ext cx="124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B213F"/>
                </a:solidFill>
                <a:latin typeface="Calibri"/>
              </a:rPr>
              <a:t>types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28616" y="3977639"/>
            <a:ext cx="1249680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8616" y="3977639"/>
            <a:ext cx="124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B213F"/>
                </a:solidFill>
                <a:latin typeface="Calibri"/>
              </a:rPr>
              <a:t>api-client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42888" y="3977639"/>
            <a:ext cx="1249680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2888" y="3977639"/>
            <a:ext cx="124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B213F"/>
                </a:solidFill>
                <a:latin typeface="Calibri"/>
              </a:rPr>
              <a:t>ui / ui-core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57160" y="3977639"/>
            <a:ext cx="1249680" cy="5029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7160" y="3977639"/>
            <a:ext cx="124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B213F"/>
                </a:solidFill>
                <a:latin typeface="Calibri"/>
              </a:rPr>
              <a:t>brand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846320.0" y="3566160"/>
            <a:ext cx="0.0" cy="411479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3721607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6B"/>
                </a:solidFill>
                <a:latin typeface="Calibri"/>
              </a:rPr>
              <a:t>packages/  (shared, framework-free domain &amp; contracts)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14600" y="3566160"/>
            <a:ext cx="0" cy="1325880"/>
          </a:xfrm>
          <a:prstGeom prst="bentConnector3">
            <a:avLst/>
          </a:prstGeom>
          <a:ln w="1905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85800" y="4892040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96519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13F"/>
                </a:solidFill>
                <a:latin typeface="Calibri"/>
              </a:rPr>
              <a:t>PostgreSQL Flexible Server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257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F6B"/>
                </a:solidFill>
                <a:latin typeface="Calibri"/>
              </a:rPr>
              <a:t>Org-scoped RLS · forward-only migrations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949440" y="3566160"/>
            <a:ext cx="0" cy="1325880"/>
          </a:xfrm>
          <a:prstGeom prst="bentConnector3">
            <a:avLst/>
          </a:prstGeom>
          <a:ln w="1905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983480" y="4892040"/>
            <a:ext cx="4023360" cy="777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5875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49651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F6B"/>
                </a:solidFill>
                <a:latin typeface="Calibri"/>
              </a:rPr>
              <a:t>apps/jobs — Async Worker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5257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F6B"/>
                </a:solidFill>
                <a:latin typeface="Calibri"/>
              </a:rPr>
              <a:t>Boundary defined; no runtime configured yet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F6B"/>
                </a:solidFill>
                <a:latin typeface="Calibri"/>
              </a:rPr>
              <a:t>Browsers call the public API directly (no BFF hop); every app consumes shared contracts instead of duplicating financial or authorization logic.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KEYFORTA — Architecture Overview ·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13F"/>
                </a:solidFill>
                <a:latin typeface="Calibri"/>
              </a:rPr>
              <a:t>Azure Runtime — Lean Single-Environment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005840" cy="4114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905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13F"/>
                </a:solidFill>
                <a:latin typeface="Calibri"/>
              </a:rPr>
              <a:t>Resource Group — dev (South Africa North)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70408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alibri"/>
              </a:rPr>
              <a:t>Container Apps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331720"/>
            <a:ext cx="6675120" cy="5669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86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13F"/>
                </a:solidFill>
                <a:latin typeface="Calibri"/>
              </a:rPr>
              <a:t>Public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865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6B"/>
                </a:solidFill>
                <a:latin typeface="Calibri"/>
              </a:rPr>
              <a:t>public HTTPS ingress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990088"/>
            <a:ext cx="6675120" cy="5669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044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13F"/>
                </a:solidFill>
                <a:latin typeface="Calibri"/>
              </a:rPr>
              <a:t>Portal / Admin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44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6B"/>
                </a:solidFill>
                <a:latin typeface="Calibri"/>
              </a:rPr>
              <a:t>public HTTPS ingress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648456"/>
            <a:ext cx="6675120" cy="5669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13F"/>
                </a:solidFill>
                <a:latin typeface="Calibri"/>
              </a:rPr>
              <a:t>Fastify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03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6B"/>
                </a:solidFill>
                <a:latin typeface="Calibri"/>
              </a:rPr>
              <a:t>public HTTPS ingress (direct browser access)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2024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93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213F"/>
                </a:solidFill>
                <a:latin typeface="Calibri"/>
              </a:rPr>
              <a:t>PostgreSQL Flexible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317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F6B"/>
                </a:solidFill>
                <a:latin typeface="Calibri"/>
              </a:rPr>
              <a:t>Burstable SKU · 7-day backups</a:t>
            </a:r>
          </a:p>
          <a:p>
            <a:pPr algn="ctr"/>
            <a:r>
              <a:rPr sz="1000" b="0" i="0">
                <a:solidFill>
                  <a:srgbClr val="555F6B"/>
                </a:solidFill>
                <a:latin typeface="Calibri"/>
              </a:rPr>
              <a:t>Managed-identity auth (Entra)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246120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B213F"/>
                </a:solidFill>
                <a:latin typeface="Calibri"/>
              </a:rPr>
              <a:t>Container Registry (Basic)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69080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06908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0B213F"/>
                </a:solidFill>
                <a:latin typeface="Calibri"/>
              </a:rPr>
              <a:t>Log Analytics (30-day retention)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5488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28032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13F"/>
                </a:solidFill>
                <a:latin typeface="Calibri"/>
              </a:rPr>
              <a:t>Narrowly-scoped managed identities: deployment · web · API · migration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206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No long-lived Azure credentials — GitHub OIDC federates per-environment identities.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F6B"/>
                </a:solidFill>
                <a:latin typeface="Calibri"/>
              </a:rPr>
              <a:t>Deferred until justified by demand: test/prod stamps, Service Bus, Blob Storage, Key Vault,</a:t>
            </a:r>
          </a:p>
          <a:p>
            <a:pPr algn="l"/>
            <a:r>
              <a:rPr sz="1100" b="0" i="1">
                <a:solidFill>
                  <a:srgbClr val="555F6B"/>
                </a:solidFill>
                <a:latin typeface="Calibri"/>
              </a:rPr>
              <a:t>Application Insights, general-purpose workers, private endpoints, HA, geo-redundant backups.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KEYFORTA — Architecture Overview ·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DATA &amp; TENANCY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13F"/>
                </a:solidFill>
                <a:latin typeface="Calibri"/>
              </a:rPr>
              <a:t>Organization Isolation and Financial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005840" cy="4114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08176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213F"/>
                </a:solidFill>
                <a:latin typeface="Calibri"/>
              </a:rPr>
              <a:t>Every organization-owned table carries a non-null organization_id.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04288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213F"/>
                </a:solidFill>
                <a:latin typeface="Calibri"/>
              </a:rPr>
              <a:t>The API resolves membership and authorizes every command/query</a:t>
            </a:r>
          </a:p>
          <a:p>
            <a:pPr algn="l"/>
            <a:r>
              <a:rPr sz="1200" b="0" i="0">
                <a:solidFill>
                  <a:srgbClr val="0B213F"/>
                </a:solidFill>
                <a:latin typeface="Calibri"/>
              </a:rPr>
              <a:t>before touching persistence — client IDs are never trusted.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45536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213F"/>
                </a:solidFill>
                <a:latin typeface="Calibri"/>
              </a:rPr>
              <a:t>PostgreSQL row-level security defaults to deny when trusted</a:t>
            </a:r>
          </a:p>
          <a:p>
            <a:pPr algn="l"/>
            <a:r>
              <a:rPr sz="1200" b="0" i="0">
                <a:solidFill>
                  <a:srgbClr val="0B213F"/>
                </a:solidFill>
                <a:latin typeface="Calibri"/>
              </a:rPr>
              <a:t>organization context is absent (defense in depth).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86784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213F"/>
                </a:solidFill>
                <a:latin typeface="Calibri"/>
              </a:rPr>
              <a:t>The runtime role cannot own or bypass RLS on protected tables;</a:t>
            </a:r>
          </a:p>
          <a:p>
            <a:pPr algn="l"/>
            <a:r>
              <a:rPr sz="1200" b="0" i="0">
                <a:solidFill>
                  <a:srgbClr val="0B213F"/>
                </a:solidFill>
                <a:latin typeface="Calibri"/>
              </a:rPr>
              <a:t>FORCE ROW LEVEL SECURITY closes ownership loopholes.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2803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7316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B213F"/>
                </a:solidFill>
                <a:latin typeface="Calibri"/>
              </a:rPr>
              <a:t>A separate migration identity owns schema change; application</a:t>
            </a:r>
          </a:p>
          <a:p>
            <a:pPr algn="l"/>
            <a:r>
              <a:rPr sz="1200" b="0" i="0">
                <a:solidFill>
                  <a:srgbClr val="0B213F"/>
                </a:solidFill>
                <a:latin typeface="Calibri"/>
              </a:rPr>
              <a:t>startup never auto-applies migrations.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46304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0B213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5361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Request with bearer token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81160" y="2011680"/>
            <a:ext cx="0" cy="320040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40880" y="233172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40487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API authenticates + resolves membership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81160" y="2880360"/>
            <a:ext cx="0" cy="320040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40880" y="320040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27355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Authorization decision (org, role, resource scope)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81160" y="3749039"/>
            <a:ext cx="0" cy="320041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40880" y="406908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C99A2E"/>
          </a:solidFill>
          <a:ln w="15875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14223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B213F"/>
                </a:solidFill>
                <a:latin typeface="Calibri"/>
              </a:rPr>
              <a:t>Trusted context set inside DB transaction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81160" y="4617720"/>
            <a:ext cx="0" cy="320040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40880" y="4937760"/>
            <a:ext cx="44805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50109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B213F"/>
                </a:solidFill>
                <a:latin typeface="Calibri"/>
              </a:rPr>
              <a:t>RLS-enforced PostgreSQL access (default-deny)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2A2A"/>
                </a:solidFill>
                <a:latin typeface="Calibri"/>
              </a:rPr>
              <a:t>Money uses integer minor units, never binary floating point.</a:t>
            </a:r>
          </a:p>
          <a:p>
            <a:pPr algn="l"/>
            <a:r>
              <a:rPr sz="1100" b="1" i="0">
                <a:solidFill>
                  <a:srgbClr val="B02A2A"/>
                </a:solidFill>
                <a:latin typeface="Calibri"/>
              </a:rPr>
              <a:t>Posted financial transactions are reversed and replaced — never silently edited.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KEYFORTA — Architecture Overview ·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SECURITY &amp; AI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13F"/>
                </a:solidFill>
                <a:latin typeface="Calibri"/>
              </a:rPr>
              <a:t>Authorization Boundaries and Human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005840" cy="4114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7315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13F"/>
                </a:solidFill>
                <a:latin typeface="Calibri"/>
              </a:rPr>
              <a:t>Application-boundary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No organization, user, role, property, unit, or lease ID from a client is ever trusted without re-validation at the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566160" cy="7315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13F"/>
                </a:solidFill>
                <a:latin typeface="Calibri"/>
              </a:rPr>
              <a:t>AI never touches the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Models call narrow, typed, authorized tools only — never direct SQL or persistence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7315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13F"/>
                </a:solidFill>
                <a:latin typeface="Calibri"/>
              </a:rPr>
              <a:t>Human-only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Tenant acceptance, eviction, legal, pricing, refunds, and money movement are never autonomous.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3566160" cy="7315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13F"/>
                </a:solidFill>
                <a:latin typeface="Calibri"/>
              </a:rPr>
              <a:t>Evidence &amp;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Document versions, evidence references, human approvals, and audit correlation IDs are preserved end to 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5760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657600"/>
            <a:ext cx="3566160" cy="7315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13F"/>
                </a:solidFill>
                <a:latin typeface="Calibri"/>
              </a:rPr>
              <a:t>Fail-safe without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976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Core workflows (e.g., schedule preview) keep working when AI services are unavailable.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5760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657600"/>
            <a:ext cx="3566160" cy="73152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13F"/>
                </a:solidFill>
                <a:latin typeface="Calibri"/>
              </a:rPr>
              <a:t>Least-privilege identities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976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Separate managed identities for web, API, worker, database, and deployment — no shared credentials.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KEYFORTA — Architecture Overview ·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13F"/>
                </a:solidFill>
                <a:latin typeface="Calibri"/>
              </a:rPr>
              <a:t>CI/CD Pipeline and Quality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005840" cy="4114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270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691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Frozen-lockfile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install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240280.0"/>
            <a:ext cx="256032" cy="0.0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96312" y="17373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270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737360"/>
            <a:ext cx="1691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Lint, type-check,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test, format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87952" y="2240280.0"/>
            <a:ext cx="256032" cy="0.0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43984" y="17373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270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737360"/>
            <a:ext cx="1691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Compile every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Bicep module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35624" y="2240280.0"/>
            <a:ext cx="256032" cy="0.0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91656" y="17373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270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737360"/>
            <a:ext cx="1691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Build web &amp; API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container images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83296" y="2240280.0"/>
            <a:ext cx="256032" cy="0.0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39328" y="17373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270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737360"/>
            <a:ext cx="1691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Container config &amp;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vulnerability scans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30968" y="2240280.0"/>
            <a:ext cx="256032" cy="0.0"/>
          </a:xfrm>
          <a:prstGeom prst="bentConnector3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87000" y="17373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C99A2E"/>
          </a:solidFill>
          <a:ln w="12700">
            <a:solidFill>
              <a:srgbClr val="0B2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1737360"/>
            <a:ext cx="1691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0B213F"/>
                </a:solidFill>
                <a:latin typeface="Calibri"/>
              </a:rPr>
              <a:t>pnpm verify</a:t>
            </a:r>
          </a:p>
          <a:p>
            <a:pPr algn="ctr"/>
            <a:r>
              <a:rPr sz="1050" b="1" i="0">
                <a:solidFill>
                  <a:srgbClr val="0B213F"/>
                </a:solidFill>
                <a:latin typeface="Calibri"/>
              </a:rPr>
              <a:t>(gate)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13F"/>
                </a:solidFill>
                <a:latin typeface="Calibri"/>
              </a:rPr>
              <a:t>GitHub Actions with OIDC — no long-lived Azure credentials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35204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Identity</a:t>
                      </a:r>
                    </a:p>
                  </a:txBody>
                  <a:tcPr anchor="ctr" marL="73152" marR="73152" marT="27432" marB="27432">
                    <a:solidFill>
                      <a:srgbClr val="0B21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Per-environment federated deployment identity via workload identity federation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Environments</a:t>
                      </a:r>
                    </a:p>
                  </a:txBody>
                  <a:tcPr anchor="ctr" marL="73152" marR="73152" marT="27432" marB="27432">
                    <a:solidFill>
                      <a:srgbClr val="0B21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dev / test / production GitHub Environments; manual approval required for production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Promotion</a:t>
                      </a:r>
                    </a:p>
                  </a:txBody>
                  <a:tcPr anchor="ctr" marL="73152" marR="73152" marT="27432" marB="27432">
                    <a:solidFill>
                      <a:srgbClr val="0B21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Deployments allowed only from the protected main branch, tied to an immutable commit SHA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anchor="ctr" marL="73152" marR="73152" marT="27432" marB="27432">
                    <a:solidFill>
                      <a:srgbClr val="0B21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CI worktree must stay clean after build; evidence-manifest gate fails otherwise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KEYFORTA — Architecture Overview ·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13F"/>
                </a:solidFill>
                <a:latin typeface="Calibri"/>
              </a:rPr>
              <a:t>Key Architecture Decision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005840" cy="4114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108960"/>
                <a:gridCol w="65836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ADR</a:t>
                      </a:r>
                    </a:p>
                  </a:txBody>
                  <a:tcPr anchor="ctr" marL="73152" marR="73152" marT="27432" marB="27432">
                    <a:solidFill>
                      <a:srgbClr val="0B21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anchor="ctr" marL="73152" marR="73152" marT="27432" marB="27432">
                    <a:solidFill>
                      <a:srgbClr val="0B21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 anchor="ctr" marL="73152" marR="73152" marT="27432" marB="27432">
                    <a:solidFill>
                      <a:srgbClr val="0B21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6"/>
                          </a:solidFill>
                        </a:rPr>
                        <a:t>ADR-0001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13F"/>
                          </a:solidFill>
                        </a:rPr>
                        <a:t>Modular monolith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F6B"/>
                          </a:solidFill>
                        </a:rPr>
                        <a:t>One API, internally enforced domain modules; service extraction deferred until measurable value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6"/>
                          </a:solidFill>
                        </a:rPr>
                        <a:t>ADR-0002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13F"/>
                          </a:solidFill>
                        </a:rPr>
                        <a:t>TypeScript monorepo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F6B"/>
                          </a:solidFill>
                        </a:rPr>
                        <a:t>pnpm + Turborepo; framework-free domain code kept portable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6"/>
                          </a:solidFill>
                        </a:rPr>
                        <a:t>ADR-0004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13F"/>
                          </a:solidFill>
                        </a:rPr>
                        <a:t>PostgreSQL + app authorization + RLS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F6B"/>
                          </a:solidFill>
                        </a:rPr>
                        <a:t>Application authorizes first; RLS is defense in depth, not the authorizer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6"/>
                          </a:solidFill>
                        </a:rPr>
                        <a:t>ADR-0006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13F"/>
                          </a:solidFill>
                        </a:rPr>
                        <a:t>Lean single-environment pilot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F6B"/>
                          </a:solidFill>
                        </a:rPr>
                        <a:t>One dev environment; test/prod and extra services deferred until justified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6"/>
                          </a:solidFill>
                        </a:rPr>
                        <a:t>ADR-0008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13F"/>
                          </a:solidFill>
                        </a:rPr>
                        <a:t>Direct browser → API access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F6B"/>
                          </a:solidFill>
                        </a:rPr>
                        <a:t>Removed the web BFF hop; API independently authorizes every request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7C86"/>
                          </a:solidFill>
                        </a:rPr>
                        <a:t>ADR-0005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13F"/>
                          </a:solidFill>
                        </a:rPr>
                        <a:t>GitHub OIDC deployment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55F6B"/>
                          </a:solidFill>
                        </a:rPr>
                        <a:t>No long-lived Azure credentials; federated identity per environment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KEYFORTA — Architecture Overview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Calibri"/>
              </a:rPr>
              <a:t>ADR-0009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213F"/>
                </a:solidFill>
                <a:latin typeface="Calibri"/>
              </a:rPr>
              <a:t>Open Decisions Before Production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005840" cy="4114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 needed</a:t>
                      </a:r>
                    </a:p>
                  </a:txBody>
                  <a:tcPr anchor="ctr" marL="73152" marR="73152" marT="27432" marB="27432">
                    <a:solidFill>
                      <a:srgbClr val="0B21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Required before</a:t>
                      </a:r>
                    </a:p>
                  </a:txBody>
                  <a:tcPr anchor="ctr" marL="73152" marR="73152" marT="27432" marB="27432">
                    <a:solidFill>
                      <a:srgbClr val="0B21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Identity provider tenant &amp; onboarding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02A2A"/>
                          </a:solidFill>
                        </a:rPr>
                        <a:t>Protected production access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PostgreSQL hosting region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02A2A"/>
                          </a:solidFill>
                        </a:rPr>
                        <a:t>Production personal data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Payment provider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02A2A"/>
                          </a:solidFill>
                        </a:rPr>
                        <a:t>Automated payments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Object storage &amp; malware scanning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02A2A"/>
                          </a:solidFill>
                        </a:rPr>
                        <a:t>Document uploads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Messaging provider (email/SMS/WhatsApp)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02A2A"/>
                          </a:solidFill>
                        </a:rPr>
                        <a:t>Outbound communications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DRC retention / lease / notice policy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02A2A"/>
                          </a:solidFill>
                        </a:rPr>
                        <a:t>Commercial leasing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Backup &amp; recovery targets (RPO/RTO)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02A2A"/>
                          </a:solidFill>
                        </a:rPr>
                        <a:t>Production launch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213F"/>
                          </a:solidFill>
                        </a:rPr>
                        <a:t>Observability &amp; on-call ownership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02A2A"/>
                          </a:solidFill>
                        </a:rPr>
                        <a:t>Production launch</a:t>
                      </a:r>
                    </a:p>
                  </a:txBody>
                  <a:tcPr anchor="ctr" marL="73152" marR="73152" marT="27432" marB="27432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F6B"/>
                </a:solidFill>
                <a:latin typeface="Calibri"/>
              </a:rPr>
              <a:t>Owners: Technology, Finance, Product, Privacy. Each decision requires context, options,</a:t>
            </a:r>
          </a:p>
          <a:p>
            <a:pPr algn="l"/>
            <a:r>
              <a:rPr sz="1100" b="0" i="1">
                <a:solidFill>
                  <a:srgbClr val="555F6B"/>
                </a:solidFill>
                <a:latin typeface="Calibri"/>
              </a:rPr>
              <a:t>selected choice, security/privacy and cost impact, and documented approval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KEYFORTA — Architecture Overview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9A2E"/>
                </a:solidFill>
                <a:latin typeface="Calibri"/>
              </a:rPr>
              <a:t>docs/adr · docs/architecture/adr · docs/contracts — full authoritative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KEYFORTA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